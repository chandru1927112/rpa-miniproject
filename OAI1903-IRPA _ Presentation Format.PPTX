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80" r:id="rId2"/>
    <p:sldId id="366" r:id="rId3"/>
    <p:sldId id="380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8" r:id="rId17"/>
    <p:sldId id="395" r:id="rId18"/>
    <p:sldId id="397" r:id="rId19"/>
    <p:sldId id="399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524"/>
    <a:srgbClr val="008000"/>
    <a:srgbClr val="385D8A"/>
    <a:srgbClr val="34495E"/>
    <a:srgbClr val="FDFDFD"/>
    <a:srgbClr val="EAEAEA"/>
    <a:srgbClr val="F8F8F8"/>
    <a:srgbClr val="FF6702"/>
    <a:srgbClr val="D6B580"/>
    <a:srgbClr val="F8E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88" autoAdjust="0"/>
    <p:restoredTop sz="94364" autoAdjust="0"/>
  </p:normalViewPr>
  <p:slideViewPr>
    <p:cSldViewPr>
      <p:cViewPr varScale="1">
        <p:scale>
          <a:sx n="61" d="100"/>
          <a:sy n="61" d="100"/>
        </p:scale>
        <p:origin x="14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2748" y="6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F5FD1-1E71-41C1-A531-EDAAD398F8D7}" type="datetimeFigureOut">
              <a:rPr lang="en-US" smtClean="0"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8C08-2D65-44A0-8D9B-1CEE7EB8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6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2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5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8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3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27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19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43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41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24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32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56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09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25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10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02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4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5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Department </a:t>
            </a:r>
            <a:r>
              <a:rPr lang="en-US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of Computer</a:t>
            </a:r>
            <a:r>
              <a:rPr lang="en-US" sz="16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Science and </a:t>
            </a:r>
            <a:r>
              <a:rPr lang="en-US" sz="1600" baseline="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Engineering</a:t>
            </a:r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11"/>
          <p:cNvSpPr/>
          <p:nvPr userDrawn="1"/>
        </p:nvSpPr>
        <p:spPr>
          <a:xfrm>
            <a:off x="4572000" y="6477490"/>
            <a:ext cx="457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da-DK" sz="16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Rajalakshmi Engineering College 		</a:t>
            </a:r>
            <a:fld id="{6E8469F3-9EE8-43CF-BEDC-475B89412D1D}" type="slidenum">
              <a:rPr lang="da-DK" sz="1600" kern="1200" noProof="1" smtClean="0">
                <a:solidFill>
                  <a:srgbClr val="FFFFFF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da-DK" sz="16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" t="63278" r="776" b="-30898"/>
          <a:stretch/>
        </p:blipFill>
        <p:spPr>
          <a:xfrm>
            <a:off x="-72010" y="-2532"/>
            <a:ext cx="9216010" cy="3231811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-14748" y="986564"/>
            <a:ext cx="9158748" cy="5148980"/>
            <a:chOff x="-14748" y="986564"/>
            <a:chExt cx="9158748" cy="5148980"/>
          </a:xfrm>
        </p:grpSpPr>
        <p:sp>
          <p:nvSpPr>
            <p:cNvPr id="22" name="TextBox 21"/>
            <p:cNvSpPr txBox="1"/>
            <p:nvPr/>
          </p:nvSpPr>
          <p:spPr>
            <a:xfrm>
              <a:off x="177781" y="4812105"/>
              <a:ext cx="432220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Your Register No.</a:t>
              </a:r>
            </a:p>
            <a:p>
              <a:r>
                <a:rPr lang="en-US" sz="2000" b="1" dirty="0" smtClean="0"/>
                <a:t>Name</a:t>
              </a:r>
            </a:p>
            <a:p>
              <a:r>
                <a:rPr lang="en-US" sz="2000" b="1" dirty="0" smtClean="0"/>
                <a:t>Guide Name</a:t>
              </a:r>
            </a:p>
            <a:p>
              <a:r>
                <a:rPr lang="en-US" sz="2000" b="1" dirty="0" smtClean="0"/>
                <a:t>Designation and Department</a:t>
              </a:r>
              <a:endParaRPr lang="en-US" sz="2000" b="1" dirty="0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-14748" y="986564"/>
              <a:ext cx="9158748" cy="3628907"/>
              <a:chOff x="-14748" y="986564"/>
              <a:chExt cx="9158748" cy="3628907"/>
            </a:xfrm>
          </p:grpSpPr>
          <p:sp>
            <p:nvSpPr>
              <p:cNvPr id="45" name="Freeform 44"/>
              <p:cNvSpPr/>
              <p:nvPr/>
            </p:nvSpPr>
            <p:spPr>
              <a:xfrm>
                <a:off x="5003203" y="1761199"/>
                <a:ext cx="4140797" cy="2622445"/>
              </a:xfrm>
              <a:custGeom>
                <a:avLst/>
                <a:gdLst>
                  <a:gd name="connsiteX0" fmla="*/ 1 w 4140797"/>
                  <a:gd name="connsiteY0" fmla="*/ 0 h 2622445"/>
                  <a:gd name="connsiteX1" fmla="*/ 4140797 w 4140797"/>
                  <a:gd name="connsiteY1" fmla="*/ 0 h 2622445"/>
                  <a:gd name="connsiteX2" fmla="*/ 4140797 w 4140797"/>
                  <a:gd name="connsiteY2" fmla="*/ 2622445 h 2622445"/>
                  <a:gd name="connsiteX3" fmla="*/ 0 w 4140797"/>
                  <a:gd name="connsiteY3" fmla="*/ 2622445 h 2622445"/>
                  <a:gd name="connsiteX4" fmla="*/ 1311223 w 4140797"/>
                  <a:gd name="connsiteY4" fmla="*/ 1311222 h 2622445"/>
                  <a:gd name="connsiteX5" fmla="*/ 1 w 4140797"/>
                  <a:gd name="connsiteY5" fmla="*/ 0 h 262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40797" h="2622445">
                    <a:moveTo>
                      <a:pt x="1" y="0"/>
                    </a:moveTo>
                    <a:lnTo>
                      <a:pt x="4140797" y="0"/>
                    </a:lnTo>
                    <a:lnTo>
                      <a:pt x="4140797" y="2622445"/>
                    </a:lnTo>
                    <a:lnTo>
                      <a:pt x="0" y="2622445"/>
                    </a:lnTo>
                    <a:lnTo>
                      <a:pt x="1311223" y="13112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A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Pentagon 45"/>
              <p:cNvSpPr/>
              <p:nvPr/>
            </p:nvSpPr>
            <p:spPr>
              <a:xfrm>
                <a:off x="0" y="1529371"/>
                <a:ext cx="5743977" cy="3086100"/>
              </a:xfrm>
              <a:prstGeom prst="homePlate">
                <a:avLst/>
              </a:prstGeom>
              <a:solidFill>
                <a:srgbClr val="59595B"/>
              </a:solidFill>
              <a:ln>
                <a:solidFill>
                  <a:srgbClr val="59595B"/>
                </a:solidFill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-14748" y="986564"/>
                <a:ext cx="4014973" cy="1075928"/>
                <a:chOff x="-19391" y="1011603"/>
                <a:chExt cx="5278947" cy="1075928"/>
              </a:xfrm>
            </p:grpSpPr>
            <p:sp>
              <p:nvSpPr>
                <p:cNvPr id="51" name="Pentagon 50"/>
                <p:cNvSpPr/>
                <p:nvPr/>
              </p:nvSpPr>
              <p:spPr>
                <a:xfrm>
                  <a:off x="-19391" y="1011603"/>
                  <a:ext cx="5278947" cy="1075928"/>
                </a:xfrm>
                <a:prstGeom prst="homePlate">
                  <a:avLst/>
                </a:prstGeom>
                <a:solidFill>
                  <a:srgbClr val="00AAAD"/>
                </a:solidFill>
                <a:ln>
                  <a:noFill/>
                </a:ln>
                <a:effectLst>
                  <a:outerShdw blurRad="50800" dist="38100" algn="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237041" y="1195624"/>
                  <a:ext cx="4181886" cy="707886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2000" b="1" dirty="0" smtClean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Introduction to </a:t>
                  </a:r>
                </a:p>
                <a:p>
                  <a:pPr algn="ctr"/>
                  <a:r>
                    <a:rPr lang="en-US" sz="2000" b="1" dirty="0" smtClean="0">
                      <a:solidFill>
                        <a:schemeClr val="bg1"/>
                      </a:solidFill>
                      <a:ea typeface="Open Sans Light" panose="020B0306030504020204" pitchFamily="34" charset="0"/>
                      <a:cs typeface="Open Sans Light" panose="020B0306030504020204" pitchFamily="34" charset="0"/>
                    </a:rPr>
                    <a:t>Robotic Process Automation </a:t>
                  </a:r>
                  <a:endParaRPr lang="en-US" sz="2000" b="1" dirty="0">
                    <a:solidFill>
                      <a:schemeClr val="bg1"/>
                    </a:solidFill>
                    <a:ea typeface="Open Sans Light" panose="020B0306030504020204" pitchFamily="34" charset="0"/>
                    <a:cs typeface="Open Sans Light" panose="020B0306030504020204" pitchFamily="34" charset="0"/>
                  </a:endParaRPr>
                </a:p>
              </p:txBody>
            </p:sp>
          </p:grpSp>
          <p:sp>
            <p:nvSpPr>
              <p:cNvPr id="48" name="TextBox 47"/>
              <p:cNvSpPr txBox="1"/>
              <p:nvPr/>
            </p:nvSpPr>
            <p:spPr>
              <a:xfrm>
                <a:off x="177782" y="2100903"/>
                <a:ext cx="418815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 smtClean="0">
                    <a:solidFill>
                      <a:schemeClr val="bg1"/>
                    </a:solidFill>
                    <a:ea typeface="Open Sans Bold" panose="020B0806030504020204" pitchFamily="34" charset="0"/>
                    <a:cs typeface="Open Sans Bold" panose="020B0806030504020204" pitchFamily="34" charset="0"/>
                  </a:rPr>
                  <a:t>Title of the Project</a:t>
                </a:r>
              </a:p>
            </p:txBody>
          </p:sp>
          <p:sp>
            <p:nvSpPr>
              <p:cNvPr id="50" name="Freeform 49"/>
              <p:cNvSpPr/>
              <p:nvPr/>
            </p:nvSpPr>
            <p:spPr>
              <a:xfrm>
                <a:off x="4652237" y="1529372"/>
                <a:ext cx="1672363" cy="3086099"/>
              </a:xfrm>
              <a:custGeom>
                <a:avLst/>
                <a:gdLst>
                  <a:gd name="connsiteX0" fmla="*/ 0 w 1672363"/>
                  <a:gd name="connsiteY0" fmla="*/ 0 h 3086099"/>
                  <a:gd name="connsiteX1" fmla="*/ 129314 w 1672363"/>
                  <a:gd name="connsiteY1" fmla="*/ 0 h 3086099"/>
                  <a:gd name="connsiteX2" fmla="*/ 1672363 w 1672363"/>
                  <a:gd name="connsiteY2" fmla="*/ 1543050 h 3086099"/>
                  <a:gd name="connsiteX3" fmla="*/ 129314 w 1672363"/>
                  <a:gd name="connsiteY3" fmla="*/ 3086099 h 3086099"/>
                  <a:gd name="connsiteX4" fmla="*/ 0 w 1672363"/>
                  <a:gd name="connsiteY4" fmla="*/ 3086099 h 3086099"/>
                  <a:gd name="connsiteX5" fmla="*/ 1543049 w 1672363"/>
                  <a:gd name="connsiteY5" fmla="*/ 1543050 h 3086099"/>
                  <a:gd name="connsiteX6" fmla="*/ 0 w 1672363"/>
                  <a:gd name="connsiteY6" fmla="*/ 0 h 3086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363" h="3086099">
                    <a:moveTo>
                      <a:pt x="0" y="0"/>
                    </a:moveTo>
                    <a:lnTo>
                      <a:pt x="129314" y="0"/>
                    </a:lnTo>
                    <a:lnTo>
                      <a:pt x="1672363" y="1543050"/>
                    </a:lnTo>
                    <a:lnTo>
                      <a:pt x="129314" y="3086099"/>
                    </a:lnTo>
                    <a:lnTo>
                      <a:pt x="0" y="3086099"/>
                    </a:lnTo>
                    <a:lnTo>
                      <a:pt x="1543049" y="15430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A6A9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84" y="4441459"/>
            <a:ext cx="1813542" cy="15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6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Abstract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the abstract in a single </a:t>
            </a:r>
            <a:r>
              <a:rPr lang="en-US" dirty="0" smtClean="0"/>
              <a:t>paragraph.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040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for the Proposed System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848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the Proposed System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30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Paper 1</a:t>
            </a:r>
          </a:p>
          <a:p>
            <a:r>
              <a:rPr lang="en-US" dirty="0" smtClean="0"/>
              <a:t>Advantages</a:t>
            </a:r>
          </a:p>
          <a:p>
            <a:r>
              <a:rPr lang="en-US" dirty="0" smtClean="0"/>
              <a:t>Disadvantages</a:t>
            </a:r>
          </a:p>
          <a:p>
            <a:r>
              <a:rPr lang="en-US" dirty="0" smtClean="0"/>
              <a:t>Paper 2</a:t>
            </a:r>
          </a:p>
          <a:p>
            <a:r>
              <a:rPr lang="en-US" dirty="0"/>
              <a:t>Advantages</a:t>
            </a:r>
          </a:p>
          <a:p>
            <a:r>
              <a:rPr lang="en-US" dirty="0"/>
              <a:t>Disadvantages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4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Main Objective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57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Architecture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 the Overall structure of the project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22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Requirements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Hardware</a:t>
            </a:r>
          </a:p>
          <a:p>
            <a:r>
              <a:rPr lang="en-US" dirty="0" smtClean="0"/>
              <a:t>Software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2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Description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</a:t>
            </a:r>
            <a:r>
              <a:rPr lang="en-US" dirty="0"/>
              <a:t>of the </a:t>
            </a:r>
            <a:r>
              <a:rPr lang="en-US" dirty="0" smtClean="0"/>
              <a:t>Module 1</a:t>
            </a:r>
          </a:p>
          <a:p>
            <a:pPr lvl="1"/>
            <a:r>
              <a:rPr lang="en-US" dirty="0" smtClean="0"/>
              <a:t>Short description</a:t>
            </a:r>
          </a:p>
          <a:p>
            <a:r>
              <a:rPr lang="en-US" dirty="0" smtClean="0"/>
              <a:t>DFD / Activity Diagram</a:t>
            </a:r>
          </a:p>
          <a:p>
            <a:r>
              <a:rPr lang="en-US" dirty="0"/>
              <a:t>Name of the Module </a:t>
            </a:r>
            <a:r>
              <a:rPr lang="en-US" dirty="0" smtClean="0"/>
              <a:t>2</a:t>
            </a:r>
            <a:endParaRPr lang="en-US" dirty="0"/>
          </a:p>
          <a:p>
            <a:pPr lvl="1"/>
            <a:r>
              <a:rPr lang="en-US" dirty="0"/>
              <a:t>Short description</a:t>
            </a:r>
          </a:p>
          <a:p>
            <a:r>
              <a:rPr lang="en-US" dirty="0"/>
              <a:t>DFD / Activity Diagram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450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Design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ERD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16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Process Design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 </a:t>
            </a:r>
            <a:r>
              <a:rPr lang="en-US" dirty="0" smtClean="0"/>
              <a:t>Process</a:t>
            </a:r>
            <a:endParaRPr lang="en-US" dirty="0" smtClean="0"/>
          </a:p>
          <a:p>
            <a:r>
              <a:rPr lang="en-US" dirty="0" smtClean="0"/>
              <a:t>Sub </a:t>
            </a:r>
            <a:r>
              <a:rPr lang="en-US" dirty="0" smtClean="0"/>
              <a:t>Process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342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Implementation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Implementation of Module 1</a:t>
            </a:r>
          </a:p>
          <a:p>
            <a:pPr lvl="1"/>
            <a:r>
              <a:rPr lang="en-US" dirty="0" smtClean="0"/>
              <a:t>Description</a:t>
            </a:r>
          </a:p>
          <a:p>
            <a:r>
              <a:rPr lang="en-US" dirty="0" smtClean="0"/>
              <a:t>Screen shots</a:t>
            </a:r>
          </a:p>
          <a:p>
            <a:r>
              <a:rPr lang="en-US" dirty="0"/>
              <a:t>Implementation of Module </a:t>
            </a:r>
            <a:r>
              <a:rPr lang="en-US" dirty="0" smtClean="0"/>
              <a:t>2</a:t>
            </a:r>
            <a:endParaRPr lang="en-US" dirty="0"/>
          </a:p>
          <a:p>
            <a:pPr lvl="1"/>
            <a:r>
              <a:rPr lang="en-US" dirty="0"/>
              <a:t>Description</a:t>
            </a:r>
          </a:p>
          <a:p>
            <a:r>
              <a:rPr lang="en-US" dirty="0"/>
              <a:t>Screen shots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947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Testing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</a:p>
          <a:p>
            <a:r>
              <a:rPr lang="en-US" dirty="0" smtClean="0"/>
              <a:t>Screen shots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32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Conclusions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37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Future Enhancement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Description 1</a:t>
            </a:r>
          </a:p>
          <a:p>
            <a:r>
              <a:rPr lang="en-US" dirty="0"/>
              <a:t>Description </a:t>
            </a:r>
            <a:r>
              <a:rPr lang="en-US" dirty="0" smtClean="0"/>
              <a:t>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085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IEEE Paper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Title</a:t>
            </a:r>
          </a:p>
          <a:p>
            <a:r>
              <a:rPr lang="en-US" dirty="0" smtClean="0"/>
              <a:t>Authors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26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References</a:t>
            </a:r>
            <a:endParaRPr lang="en-IN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Journals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047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32822" y="2321005"/>
            <a:ext cx="407836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Queries</a:t>
            </a:r>
            <a:endParaRPr lang="en-US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180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27460" y="2321005"/>
            <a:ext cx="768909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Demonstration</a:t>
            </a:r>
            <a:endParaRPr lang="en-US" sz="9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636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44234" y="2321005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485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|2.4|1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9161</TotalTime>
  <Words>154</Words>
  <Application>Microsoft Office PowerPoint</Application>
  <PresentationFormat>On-screen Show (4:3)</PresentationFormat>
  <Paragraphs>82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Open Sans</vt:lpstr>
      <vt:lpstr>Open Sans Bold</vt:lpstr>
      <vt:lpstr>Open Sans Extrabold</vt:lpstr>
      <vt:lpstr>Open Sans Light</vt:lpstr>
      <vt:lpstr>Open Sans Semibold</vt:lpstr>
      <vt:lpstr>Times New Roman</vt:lpstr>
      <vt:lpstr>Wingdings</vt:lpstr>
      <vt:lpstr>Office Theme</vt:lpstr>
      <vt:lpstr>PowerPoint Presentation</vt:lpstr>
      <vt:lpstr>Abstract</vt:lpstr>
      <vt:lpstr>Need for the Proposed System</vt:lpstr>
      <vt:lpstr>Advantages of the Proposed System</vt:lpstr>
      <vt:lpstr>Literature Survey</vt:lpstr>
      <vt:lpstr>Main Objective</vt:lpstr>
      <vt:lpstr>Architecture</vt:lpstr>
      <vt:lpstr>System Requirements</vt:lpstr>
      <vt:lpstr>Functional Description</vt:lpstr>
      <vt:lpstr>Table Design</vt:lpstr>
      <vt:lpstr>Process Design</vt:lpstr>
      <vt:lpstr>Implementation</vt:lpstr>
      <vt:lpstr>Testing</vt:lpstr>
      <vt:lpstr>Conclusions</vt:lpstr>
      <vt:lpstr>Future Enhancement</vt:lpstr>
      <vt:lpstr>IEEE Paper</vt:lpstr>
      <vt:lpstr>References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bhuvagates@gmail.com</cp:lastModifiedBy>
  <cp:revision>1740</cp:revision>
  <dcterms:created xsi:type="dcterms:W3CDTF">2013-05-17T03:00:03Z</dcterms:created>
  <dcterms:modified xsi:type="dcterms:W3CDTF">2022-11-05T05:03:37Z</dcterms:modified>
</cp:coreProperties>
</file>